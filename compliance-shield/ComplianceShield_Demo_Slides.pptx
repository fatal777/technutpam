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8FAFC"/>
                </a:solidFill>
                <a:latin typeface="Calibri"/>
              </a:rPr>
              <a:t>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8FAFC"/>
                </a:solidFill>
                <a:latin typeface="Calibri"/>
              </a:rPr>
              <a:t>ComplianceShield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46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0EA5E9"/>
                </a:solidFill>
                <a:latin typeface="Calibri"/>
              </a:rPr>
              <a:t>Your AI can code.  Now it can also lawyer.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97763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A live compliance layer inside your IDE — GDPR · DPDP · HIPAA · SOC2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617720"/>
            <a:ext cx="7132320" cy="59436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66344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onsolas"/>
              </a:rPr>
              <a:t>claude mcp add compliance-shield --transport stdio -- python server.py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371600"/>
            <a:ext cx="3108960" cy="384048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554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EA5E9"/>
                </a:solidFill>
                <a:latin typeface="Calibri"/>
              </a:rPr>
              <a:t>50M+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377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vibe-coders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880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703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with compliance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7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Powered by:   Concierge  ·  SafeDep  ·  Unsiloed AI  ·  Emergent.sh  ·  Razorpay  ·  Gemini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Calibri"/>
              </a:rPr>
              <a:t>Every vibe-coded app fails its first enterprise security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  <a:latin typeface="Calibri"/>
              </a:rPr>
              <a:t>AI writes code fast — but knows nothing about GDPR, DPDP, HIPAA, or SOC2.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2743200" cy="192024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27432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GDPR Art.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PII logged to console
SSN in plain 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194560"/>
            <a:ext cx="2743200" cy="192024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2194560"/>
            <a:ext cx="27432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GDPR Art. 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6974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No encryption at rest
Passwords in plaintext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194560"/>
            <a:ext cx="2743200" cy="192024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219456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GDPR Art.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6974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No consent collected
before data 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2194560"/>
            <a:ext cx="2743200" cy="192024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98864" y="219456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DPDP Sec.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26974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Calibri"/>
              </a:rPr>
              <a:t>User data stored on
US servers (not India)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160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4663440"/>
            <a:ext cx="8503920" cy="822960"/>
          </a:xfrm>
          <a:prstGeom prst="rect">
            <a:avLst/>
          </a:prstGeom>
          <a:solidFill>
            <a:srgbClr val="4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4754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F4444"/>
                </a:solidFill>
                <a:latin typeface="Calibri"/>
              </a:rPr>
              <a:t>Enterprise security review kills the deal.  6 months of dev work. Gone.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No post-code scanner fixes this. You need compliance baked in from line 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Calibri"/>
              </a:rPr>
              <a:t>5-stage compliance workflow — enforced at the MCP protocol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148840" cy="475488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527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Your 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459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Claude Code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Cursor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Lovable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VSCode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108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EA5E9"/>
                </a:solidFill>
                <a:latin typeface="Calibri"/>
              </a:rPr>
              <a:t>v  MCP 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520440"/>
            <a:ext cx="1920240" cy="4754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5478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Concierge Wrapper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9776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Can't skip stages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143000"/>
            <a:ext cx="1783080" cy="475488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1143000"/>
            <a:ext cx="1783080" cy="640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125272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1  Configure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1691640"/>
            <a:ext cx="15727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onsolas"/>
              </a:rPr>
              <a:t>set_jurisdictions
upload_policy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548640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Unsiloed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2461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Calibri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62272" y="1143000"/>
            <a:ext cx="1783080" cy="475488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62272" y="1143000"/>
            <a:ext cx="1783080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125272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Calibri"/>
              </a:rPr>
              <a:t>2  Wrap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1691640"/>
            <a:ext cx="15727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onsolas"/>
              </a:rPr>
              <a:t>compliance_wrap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548640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Before codegen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2461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Calibri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1143000"/>
            <a:ext cx="1783080" cy="475488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4224" y="1143000"/>
            <a:ext cx="17830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125272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3 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1691640"/>
            <a:ext cx="15727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onsolas"/>
              </a:rPr>
              <a:t>scan_code
scan_deps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548640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SafeDep + Gemini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32461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Calibri"/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6175" y="1143000"/>
            <a:ext cx="1783080" cy="475488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6175" y="1143000"/>
            <a:ext cx="17830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7" y="125272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4  Remediate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7" y="1691640"/>
            <a:ext cx="15727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onsolas"/>
              </a:rPr>
              <a:t>get_fixes / apply_fix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7" y="548640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Gemini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67544" y="32461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Calibri"/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68128" y="1143000"/>
            <a:ext cx="1783080" cy="475488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68128" y="1143000"/>
            <a:ext cx="1783080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125272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Calibri"/>
              </a:rPr>
              <a:t>5 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1691640"/>
            <a:ext cx="15727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onsolas"/>
              </a:rPr>
              <a:t>generate_report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548640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Emergent.sh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080760"/>
            <a:ext cx="12188952" cy="777240"/>
          </a:xfrm>
          <a:prstGeom prst="rect">
            <a:avLst/>
          </a:prstGeom>
          <a:solidFill>
            <a:srgbClr val="07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108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A5E9"/>
                </a:solidFill>
                <a:latin typeface="Calibri"/>
              </a:rPr>
              <a:t>Concierge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382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Workflow enforcement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6108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A5E9"/>
                </a:solidFill>
                <a:latin typeface="Calibri"/>
              </a:rPr>
              <a:t>SafeDep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6382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Dep. scanning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6108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A5E9"/>
                </a:solidFill>
                <a:latin typeface="Calibri"/>
              </a:rPr>
              <a:t>Unsiloed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6382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PDF parsing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6108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A5E9"/>
                </a:solidFill>
                <a:latin typeface="Calibri"/>
              </a:rPr>
              <a:t>Emergent.sh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6382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Dashboard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6108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A5E9"/>
                </a:solidFill>
                <a:latin typeface="Calibri"/>
              </a:rPr>
              <a:t>Razorpay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6382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Billing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9 steps · 2 minutes · zero prep for the developer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669280" cy="91440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4864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691640"/>
            <a:ext cx="32004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6733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361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onsolas"/>
              </a:rPr>
              <a:t>set_jurisdictions(["gdpr", "dpdp"])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Configure GDPR + India DPDP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05456"/>
            <a:ext cx="5669280" cy="91440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05456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" y="2734056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2715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7860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onsolas"/>
              </a:rPr>
              <a:t>compliance_wrap("build registration form")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083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Inject compliance rules BEFORE codegen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47872"/>
            <a:ext cx="5669280" cy="91440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47872"/>
            <a:ext cx="54864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" y="3776472"/>
            <a:ext cx="32004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375818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210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onsolas"/>
              </a:rPr>
              <a:t>scan_code(bad_express_app)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8 violations found — 4 critical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590288"/>
            <a:ext cx="5669280" cy="91440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590288"/>
            <a:ext cx="54864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" y="4818888"/>
            <a:ext cx="3200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4800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6634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onsolas"/>
              </a:rPr>
              <a:t>CONCIERGE BLOCKS generate_report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932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Can't skip to report — protocol enforced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632704"/>
            <a:ext cx="5669280" cy="91440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632704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3192" y="5861304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58430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7058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onsolas"/>
              </a:rPr>
              <a:t>get_fixes()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1356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Auto-remediation diff generated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1463040"/>
            <a:ext cx="5669280" cy="91440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146304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82512" y="1691640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16733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15361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onsolas"/>
              </a:rPr>
              <a:t>apply_fix("register.js", fixed)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19659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Fix written to disk, .bak created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505456"/>
            <a:ext cx="5669280" cy="91440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2505456"/>
            <a:ext cx="54864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82512" y="2734056"/>
            <a:ext cx="32004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2715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257860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onsolas"/>
              </a:rPr>
              <a:t>scan_dependencies(package_json)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0083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SafeDep: flatmap-stream BLOCKED 🚫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547872"/>
            <a:ext cx="5669280" cy="91440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3547872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82512" y="3776472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2512" y="375818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6210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onsolas"/>
              </a:rPr>
              <a:t>scan_code(fixed_code)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40507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0 violations — code now compliant 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4590288"/>
            <a:ext cx="5669280" cy="91440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63640" y="4590288"/>
            <a:ext cx="54864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82512" y="4818888"/>
            <a:ext cx="32004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82512" y="4800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46634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Consolas"/>
              </a:rPr>
              <a:t>generate_report()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2280" y="50932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Audit-ready report generated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5632704"/>
            <a:ext cx="5669280" cy="91440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63640" y="5632704"/>
            <a:ext cx="54864" cy="914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82512" y="5861304"/>
            <a:ext cx="320040" cy="3200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82512" y="58430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57058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onsolas"/>
              </a:rPr>
              <a:t>Emergent.sh dashboard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12280" y="61356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Reports visible + Razorpay checkout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One enterprise deal saved = 12+ months of Pro subscription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338328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6576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₹0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10 scans/month
1 jurisdiction
Claude Code install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657600" cy="3383280"/>
          </a:xfrm>
          <a:prstGeom prst="rect">
            <a:avLst/>
          </a:prstGeom>
          <a:solidFill>
            <a:srgbClr val="0E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6576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  <a:latin typeface="Calibri"/>
              </a:rPr>
              <a:t>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₹8,299 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Unlimited scans
All 4 jurisdictions
Audit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097280"/>
            <a:ext cx="3657600" cy="3474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11556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MOST POPULAR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463040"/>
            <a:ext cx="3657600" cy="338328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46304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0116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₹4,16,000 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6517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Everything in Pro
Audit trail export
Security whitepaper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349240"/>
            <a:ext cx="11612880" cy="105156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Calibri"/>
              </a:rPr>
              <a:t>50M+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AI-assisted devs worldwide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394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Calibri"/>
              </a:rPr>
              <a:t>$147B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852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Global developer tools 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394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Calibri"/>
              </a:rPr>
              <a:t>$99/mo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852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Average SaaS compliance tool price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5394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Calibri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5852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ROI — one enterprise deal unlocked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Target: B2B SaaS founders building for enterprise — compliance is the last mile before the deal closes.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Why ComplianceShield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Not another compliance scanner. The missing infrastructure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173736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64008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7276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  <a:latin typeface="Calibri"/>
              </a:rPr>
              <a:t>LIVE, not post-hoc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93392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Works inside the IDE while you code.
Not a separate website after the fact.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57600" cy="173736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6400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57276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Protocol enforcement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993392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Concierge makes skipping scans
physically impossible in MCP.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657600" cy="173736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64008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57276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  <a:latin typeface="Calibri"/>
              </a:rPr>
              <a:t>One-line install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93392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claude mcp add compliance-shield
Works in Claude Code, Cursor, Lovable.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3657600" cy="173736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474720"/>
            <a:ext cx="64008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5844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5 sponsors, 1 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005072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Concierge · SafeDep · Unsiloed AI
Emergent.sh · Razorpay — all integrated.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474720"/>
            <a:ext cx="3657600" cy="173736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474720"/>
            <a:ext cx="6400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5844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Real 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005072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B2B founders need this to close
enterprise deals. ROI is immediate.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474720"/>
            <a:ext cx="3657600" cy="1737360"/>
          </a:xfrm>
          <a:prstGeom prst="rect">
            <a:avLst/>
          </a:prstGeom>
          <a:solidFill>
            <a:srgbClr val="15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474720"/>
            <a:ext cx="64008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35844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  <a:latin typeface="Calibri"/>
              </a:rPr>
              <a:t>Visceral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005072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Watching Concierge block a
protocol call in real-time is memorable.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11430000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5046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F8FAFC"/>
                </a:solidFill>
                <a:latin typeface="Calibri"/>
              </a:rPr>
              <a:t>"Your AI can code — now it can also lawyer."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AE6FD"/>
                </a:solidFill>
                <a:latin typeface="Calibri"/>
              </a:rPr>
              <a:t>MCP server  ·  one-line install  ·  $99/month  ·  Claude Code · Cursor · Lovable · VSCode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